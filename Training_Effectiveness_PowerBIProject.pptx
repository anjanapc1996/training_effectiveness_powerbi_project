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14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64" r:id="rId12"/>
    <p:sldId id="265" r:id="rId1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005C"/>
    <a:srgbClr val="5F006C"/>
    <a:srgbClr val="951F92"/>
    <a:srgbClr val="F600F6"/>
    <a:srgbClr val="FF00FF"/>
    <a:srgbClr val="810092"/>
    <a:srgbClr val="F5A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4:21:58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215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9865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639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32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2296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48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6765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207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442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592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237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322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7064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6495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9096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6809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88408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0022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5665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17136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68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5520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183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9996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7257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34743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51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62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180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C9DF407-AAD9-4F9F-B512-267BEB339CF5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7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2" r:id="rId19"/>
    <p:sldLayoutId id="2147483783" r:id="rId20"/>
    <p:sldLayoutId id="2147483784" r:id="rId21"/>
    <p:sldLayoutId id="2147483785" r:id="rId22"/>
    <p:sldLayoutId id="2147483786" r:id="rId23"/>
    <p:sldLayoutId id="2147483787" r:id="rId24"/>
    <p:sldLayoutId id="2147483788" r:id="rId25"/>
    <p:sldLayoutId id="2147483789" r:id="rId26"/>
    <p:sldLayoutId id="2147483790" r:id="rId27"/>
    <p:sldLayoutId id="2147483791" r:id="rId2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0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3E469918-143A-991E-3936-9C56183EC980}"/>
              </a:ext>
            </a:extLst>
          </p:cNvPr>
          <p:cNvSpPr txBox="1"/>
          <p:nvPr/>
        </p:nvSpPr>
        <p:spPr>
          <a:xfrm>
            <a:off x="1010920" y="1705913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TRAINING EFFECTIVENESS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789B0-A18A-5D77-1608-573FCD594E24}"/>
              </a:ext>
            </a:extLst>
          </p:cNvPr>
          <p:cNvSpPr txBox="1"/>
          <p:nvPr/>
        </p:nvSpPr>
        <p:spPr>
          <a:xfrm>
            <a:off x="1010920" y="285613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Project — Build Guide &amp; Insights</a:t>
            </a: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CB93CB9-B5A8-BB20-D923-F3710C00865F}"/>
              </a:ext>
            </a:extLst>
          </p:cNvPr>
          <p:cNvSpPr/>
          <p:nvPr/>
        </p:nvSpPr>
        <p:spPr>
          <a:xfrm>
            <a:off x="1087120" y="4237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5,000 employee training records  •  10 columns  •  CSV &amp; XLSX</a:t>
            </a:r>
            <a:endParaRPr lang="en-US" sz="13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123A56B-D6BA-9411-E269-4287491D62D3}"/>
                  </a:ext>
                </a:extLst>
              </p14:cNvPr>
              <p14:cNvContentPartPr/>
              <p14:nvPr/>
            </p14:nvContentPartPr>
            <p14:xfrm>
              <a:off x="9214880" y="126968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123A56B-D6BA-9411-E269-4287491D62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97240" y="1252040"/>
                <a:ext cx="36000" cy="3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F09BD9-1459-133A-F065-2E469EA479BA}"/>
              </a:ext>
            </a:extLst>
          </p:cNvPr>
          <p:cNvCxnSpPr/>
          <p:nvPr/>
        </p:nvCxnSpPr>
        <p:spPr>
          <a:xfrm>
            <a:off x="1158240" y="3667760"/>
            <a:ext cx="244856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615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OBJECTIVE</a:t>
            </a:r>
            <a:endParaRPr lang="en-US" sz="1200" dirty="0">
              <a:solidFill>
                <a:srgbClr val="50005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Dashboard Exists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3291840"/>
          </a:xfrm>
          <a:prstGeom prst="roundRect">
            <a:avLst>
              <a:gd name="adj" fmla="val 339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solidFill>
            <a:srgbClr val="5F006C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0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training ROI</a:t>
            </a:r>
            <a:endParaRPr lang="en-US" sz="1500" dirty="0">
              <a:solidFill>
                <a:srgbClr val="50005C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F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much employee skill scores improve after training, relative to program cost.</a:t>
            </a:r>
            <a:endParaRPr lang="en-US" sz="1400" dirty="0">
              <a:solidFill>
                <a:srgbClr val="5F006C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697480" cy="3291840"/>
          </a:xfrm>
          <a:prstGeom prst="roundRect">
            <a:avLst>
              <a:gd name="adj" fmla="val 339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0332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03320" y="1920240"/>
            <a:ext cx="502920" cy="502920"/>
          </a:xfrm>
          <a:prstGeom prst="rect">
            <a:avLst/>
          </a:prstGeom>
          <a:solidFill>
            <a:srgbClr val="5F006C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0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completion gaps</a:t>
            </a:r>
            <a:endParaRPr lang="en-US" sz="1500" dirty="0">
              <a:solidFill>
                <a:srgbClr val="50005C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703320" y="3246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F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departments, regions, or programs have low completion or high drop-off.</a:t>
            </a:r>
            <a:endParaRPr lang="en-US" sz="1400" dirty="0">
              <a:solidFill>
                <a:srgbClr val="5F006C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697480" cy="3291840"/>
          </a:xfrm>
          <a:prstGeom prst="roundRect">
            <a:avLst>
              <a:gd name="adj" fmla="val 339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62940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29400" y="1920240"/>
            <a:ext cx="502920" cy="502920"/>
          </a:xfrm>
          <a:prstGeom prst="rect">
            <a:avLst/>
          </a:prstGeom>
          <a:solidFill>
            <a:srgbClr val="5F006C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0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L&amp;D investment</a:t>
            </a:r>
            <a:endParaRPr lang="en-US" sz="1500" dirty="0">
              <a:solidFill>
                <a:srgbClr val="50005C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629400" y="3246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F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leadership which programs deliver the strongest learning gains and satisfaction.</a:t>
            </a:r>
            <a:endParaRPr lang="en-US" sz="1400" dirty="0">
              <a:solidFill>
                <a:srgbClr val="5F006C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326880" y="1645920"/>
            <a:ext cx="2697480" cy="3291840"/>
          </a:xfrm>
          <a:prstGeom prst="roundRect">
            <a:avLst>
              <a:gd name="adj" fmla="val 339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55548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555480" y="1920240"/>
            <a:ext cx="502920" cy="502920"/>
          </a:xfrm>
          <a:prstGeom prst="rect">
            <a:avLst/>
          </a:prstGeom>
          <a:solidFill>
            <a:srgbClr val="5F006C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55548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0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 BI skills</a:t>
            </a:r>
            <a:endParaRPr lang="en-US" sz="1500" dirty="0">
              <a:solidFill>
                <a:srgbClr val="50005C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555480" y="3246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F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end-to-end capability: data modeling, DAX, calculated columns, and storytelling.</a:t>
            </a:r>
            <a:endParaRPr lang="en-US" sz="1400" dirty="0">
              <a:solidFill>
                <a:srgbClr val="5F006C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solidFill>
            <a:srgbClr val="E4F2F1"/>
          </a:solidFill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“Are our training programs actually improving employee performance, and is the spend justified?”</a:t>
            </a:r>
            <a:endParaRPr lang="en-US" sz="1350" dirty="0">
              <a:solidFill>
                <a:srgbClr val="50005C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DATASET</a:t>
            </a:r>
            <a:endParaRPr lang="en-US" sz="1200" dirty="0">
              <a:solidFill>
                <a:srgbClr val="50005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— 10 Columns, 5,000 Rows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87726"/>
              </p:ext>
            </p:extLst>
          </p:nvPr>
        </p:nvGraphicFramePr>
        <p:xfrm>
          <a:off x="548640" y="1417320"/>
          <a:ext cx="7863840" cy="472744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employee identifier (EMP10001–EMP15000)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Sales, IT, HR, Finance, Operations, Marketing, Support, R&amp;D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North, South, East, West, Central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TrainingProgram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 10 training courses offered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employee enrolled (2024–2025)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/ In Progress / Dropped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PreTrainingScore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score before training (0–100)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PostTrainingScore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after training (blank if not completed)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TrainingCost_INR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training per employee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Post-training feedback score (1–5)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417320"/>
            <a:ext cx="2971800" cy="4892040"/>
          </a:xfrm>
          <a:prstGeom prst="roundRect">
            <a:avLst>
              <a:gd name="adj" fmla="val 3077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9154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15400" y="2103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915400" y="2487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915400" y="28163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91540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915400" y="352958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915400" y="3913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915400" y="42428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915400" y="4626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915400" y="4956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915400" y="5340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915400" y="56692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mo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915400" y="60533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(2024–25)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BUILD PROCESS</a:t>
            </a:r>
            <a:endParaRPr lang="en-US" sz="1200" dirty="0">
              <a:solidFill>
                <a:srgbClr val="50005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Steps to Build the Dashboard in Power BI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286000"/>
          </a:xfrm>
          <a:prstGeom prst="roundRect">
            <a:avLst>
              <a:gd name="adj" fmla="val 320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411480" cy="411480"/>
          </a:xfrm>
          <a:prstGeom prst="ellipse">
            <a:avLst/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007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F0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&amp; Clean Data</a:t>
            </a:r>
            <a:endParaRPr lang="en-US" sz="1350" dirty="0">
              <a:solidFill>
                <a:srgbClr val="5F006C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CSV/XLSX via Get Data. Fix data types (dates as Date, scores/cost as Decimal). Handle blanks in PostTrainingScore in Power Query.</a:t>
            </a:r>
            <a:endParaRPr lang="en-US" sz="1200" dirty="0">
              <a:solidFill>
                <a:srgbClr val="50005C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2286000"/>
          </a:xfrm>
          <a:prstGeom prst="roundRect">
            <a:avLst>
              <a:gd name="adj" fmla="val 320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80560" y="1737360"/>
            <a:ext cx="411480" cy="411480"/>
          </a:xfrm>
          <a:prstGeom prst="rect">
            <a:avLst/>
          </a:prstGeom>
          <a:solidFill>
            <a:srgbClr val="5000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7007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F0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Data</a:t>
            </a:r>
            <a:endParaRPr lang="en-US" sz="1350" dirty="0">
              <a:solidFill>
                <a:srgbClr val="5F006C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480560" y="22860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single flat table, or split into Fact_Training + Dim tables. Build a Date table and mark it as the official Date table.</a:t>
            </a:r>
            <a:endParaRPr lang="en-US" sz="1200" dirty="0">
              <a:solidFill>
                <a:srgbClr val="50005C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2286000"/>
          </a:xfrm>
          <a:prstGeom prst="roundRect">
            <a:avLst>
              <a:gd name="adj" fmla="val 320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0" y="17373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0" y="1737360"/>
            <a:ext cx="411480" cy="411480"/>
          </a:xfrm>
          <a:prstGeom prst="rect">
            <a:avLst/>
          </a:prstGeom>
          <a:solidFill>
            <a:srgbClr val="5000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17007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F0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Calculated Columns</a:t>
            </a:r>
            <a:endParaRPr lang="en-US" sz="1350" dirty="0">
              <a:solidFill>
                <a:srgbClr val="5F006C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0" y="22860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row-level fields for filtering/grouping: Score Improvement, Enrollment Month, Outcome Flag, Cost Bucket.</a:t>
            </a:r>
            <a:endParaRPr lang="en-US" sz="1200" dirty="0">
              <a:solidFill>
                <a:srgbClr val="50005C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566160" cy="2286000"/>
          </a:xfrm>
          <a:prstGeom prst="roundRect">
            <a:avLst>
              <a:gd name="adj" fmla="val 320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4251960"/>
            <a:ext cx="411480" cy="411480"/>
          </a:xfrm>
          <a:prstGeom prst="rect">
            <a:avLst/>
          </a:prstGeom>
          <a:solidFill>
            <a:srgbClr val="5000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2153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F0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DAX Measures</a:t>
            </a:r>
            <a:endParaRPr lang="en-US" sz="1350" dirty="0">
              <a:solidFill>
                <a:srgbClr val="5F006C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31520" y="48006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measures: Completion Rate %, Avg Score Improvement, Avg Satisfaction, Total Cost, Cost per Completion.</a:t>
            </a:r>
            <a:endParaRPr lang="en-US" sz="1200" dirty="0">
              <a:solidFill>
                <a:srgbClr val="50005C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97680" y="4069080"/>
            <a:ext cx="3566160" cy="2286000"/>
          </a:xfrm>
          <a:prstGeom prst="roundRect">
            <a:avLst>
              <a:gd name="adj" fmla="val 320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480560" y="42519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480560" y="4251960"/>
            <a:ext cx="411480" cy="411480"/>
          </a:xfrm>
          <a:prstGeom prst="rect">
            <a:avLst/>
          </a:prstGeom>
          <a:solidFill>
            <a:srgbClr val="5000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42153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F0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the Report Page</a:t>
            </a:r>
            <a:endParaRPr lang="en-US" sz="1350" dirty="0">
              <a:solidFill>
                <a:srgbClr val="5F006C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4480560" y="48006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KPI cards, bar/column charts, a matrix, and slicers. Apply a consistent theme and clear titles.</a:t>
            </a:r>
            <a:endParaRPr lang="en-US" sz="1200" dirty="0">
              <a:solidFill>
                <a:srgbClr val="50005C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46720" y="4069080"/>
            <a:ext cx="3566160" cy="2286000"/>
          </a:xfrm>
          <a:prstGeom prst="roundRect">
            <a:avLst>
              <a:gd name="adj" fmla="val 320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229600" y="4251960"/>
            <a:ext cx="411480" cy="411480"/>
          </a:xfrm>
          <a:prstGeom prst="ellipse">
            <a:avLst/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22960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2153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F0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Format &amp; Publish</a:t>
            </a:r>
            <a:endParaRPr lang="en-US" sz="1350" dirty="0">
              <a:solidFill>
                <a:srgbClr val="5F006C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229600" y="48006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slicer interactions, format numbers/currency, add tooltips, test mobile layout, then publish.</a:t>
            </a:r>
            <a:endParaRPr lang="en-US" sz="1200" dirty="0">
              <a:solidFill>
                <a:srgbClr val="50005C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DATA MODELING</a:t>
            </a:r>
            <a:endParaRPr lang="en-US" sz="1200" dirty="0">
              <a:solidFill>
                <a:srgbClr val="50005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Columns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columns added in Power BI to enable grouping, filtering, and conditional formatting.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078992"/>
          </a:xfrm>
          <a:prstGeom prst="roundRect">
            <a:avLst>
              <a:gd name="adj" fmla="val 508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CE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682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Improvement</a:t>
            </a:r>
            <a:endParaRPr lang="en-US" sz="1250" dirty="0">
              <a:solidFill>
                <a:srgbClr val="50005C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improvement histogram &amp; top-programs ranking.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691640"/>
            <a:ext cx="8321040" cy="896112"/>
          </a:xfrm>
          <a:prstGeom prst="roundRect">
            <a:avLst>
              <a:gd name="adj" fmla="val 4082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246120" y="1728216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Improvement =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IF(ISBLANK('Training'[PostTrainingScore]), BLANK(),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'Training'[PostTrainingScore] - 'Training'[PreTrainingScore])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1064240" cy="1078992"/>
          </a:xfrm>
          <a:prstGeom prst="roundRect">
            <a:avLst>
              <a:gd name="adj" fmla="val 508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CE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Month</a:t>
            </a:r>
            <a:endParaRPr lang="en-US" sz="1250" dirty="0">
              <a:solidFill>
                <a:srgbClr val="50005C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31520" y="3200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monthly enrollment trend line &amp; slicer.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2880360"/>
            <a:ext cx="8321040" cy="896112"/>
          </a:xfrm>
          <a:prstGeom prst="roundRect">
            <a:avLst>
              <a:gd name="adj" fmla="val 4082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246120" y="2916936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 Month =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FORMAT('Training'[EnrollmentDate], "MMM YYYY")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64240" cy="1078992"/>
          </a:xfrm>
          <a:prstGeom prst="roundRect">
            <a:avLst>
              <a:gd name="adj" fmla="val 508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CE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40599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Flag</a:t>
            </a:r>
            <a:endParaRPr lang="en-US" sz="1250" dirty="0">
              <a:solidFill>
                <a:srgbClr val="50005C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31520" y="4389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status into a 3-tier label for KPI icons/colors.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4069080"/>
            <a:ext cx="8321040" cy="896112"/>
          </a:xfrm>
          <a:prstGeom prst="roundRect">
            <a:avLst>
              <a:gd name="adj" fmla="val 4082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3246120" y="4105656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 Flag =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SWITCH('Training'[CompletionStatus],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"Completed","On Track","Dropped","At Risk","In Progress")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1078992"/>
          </a:xfrm>
          <a:prstGeom prst="roundRect">
            <a:avLst>
              <a:gd name="adj" fmla="val 508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CE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52486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0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Bucket</a:t>
            </a:r>
            <a:endParaRPr lang="en-US" sz="1250" dirty="0">
              <a:solidFill>
                <a:srgbClr val="50005C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31520" y="5577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spend into bands for the cost-distribution chart.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5257800"/>
            <a:ext cx="8321040" cy="896112"/>
          </a:xfrm>
          <a:prstGeom prst="roundRect">
            <a:avLst>
              <a:gd name="adj" fmla="val 4082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246120" y="5294376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Bucket =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IF('Training'[TrainingCost_INR]&lt;200,"Low",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IF('Training'[TrainingCost_INR]&lt;400,"Medium","High"))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DATA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DAX Measures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aggregate across whatever filters/slicers are applied — used directly on KPI cards and charts.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7820"/>
            <a:ext cx="5440680" cy="1490472"/>
          </a:xfrm>
          <a:prstGeom prst="roundRect">
            <a:avLst>
              <a:gd name="adj" fmla="val 3871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%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2107692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 Rate % =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Completion Rates% = DIVIDE([Completed Employees],[Total Employees])</a:t>
            </a:r>
          </a:p>
          <a:p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Total Employees = DISTINCTCOUNT(</a:t>
            </a:r>
            <a:r>
              <a:rPr lang="en-IN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training_effectiveness_data</a:t>
            </a:r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EmployeeID</a:t>
            </a:r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Completed Employees = CALCULATE(DISTINCTCOUNT(</a:t>
            </a:r>
            <a:r>
              <a:rPr lang="en-IN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training_effectiveness_data</a:t>
            </a:r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EmployeeID</a:t>
            </a:r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  <a:r>
              <a:rPr lang="en-IN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training_effectiveness_data</a:t>
            </a:r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CompletionStatus</a:t>
            </a:r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]="Completed")</a:t>
            </a:r>
          </a:p>
          <a:p>
            <a:endParaRPr lang="en-IN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IN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355080" y="16916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Improvement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9842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AVERAGE(</a:t>
            </a:r>
            <a:r>
              <a:rPr lang="en-IN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training_effectiveness_data</a:t>
            </a:r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[Score Improvement])</a:t>
            </a:r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844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Satisfaction = AVERAGE('</a:t>
            </a:r>
            <a:r>
              <a:rPr lang="en-IN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training_effectiveness_data</a:t>
            </a:r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'[</a:t>
            </a:r>
            <a:r>
              <a:rPr lang="en-IN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SatisfactionRating</a:t>
            </a:r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14" name="Shape 12"/>
          <p:cNvSpPr/>
          <p:nvPr/>
        </p:nvSpPr>
        <p:spPr>
          <a:xfrm>
            <a:off x="6172200" y="32004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55080" y="32918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Cost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5844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 Training Cost = SUM('</a:t>
            </a:r>
            <a:r>
              <a:rPr lang="en-IN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training_effectiveness_data</a:t>
            </a:r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'[</a:t>
            </a:r>
            <a:r>
              <a:rPr lang="en-IN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TrainingCost_INR</a:t>
            </a:r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48920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Completion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1846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Cost per Completion = DIVIDE([Total Training Cost],[Completed Employees])</a:t>
            </a:r>
          </a:p>
        </p:txBody>
      </p:sp>
      <p:sp>
        <p:nvSpPr>
          <p:cNvPr id="20" name="Shape 18"/>
          <p:cNvSpPr/>
          <p:nvPr/>
        </p:nvSpPr>
        <p:spPr>
          <a:xfrm>
            <a:off x="6172200" y="48006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55080" y="48920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Rate %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51846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Drop-Off-Rate% = DIVIDE(CALCULATE([Total Employees],</a:t>
            </a:r>
            <a:r>
              <a:rPr lang="en-IN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training_effectiveness_data</a:t>
            </a:r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CompletionStatus</a:t>
            </a:r>
            <a:r>
              <a:rPr lang="en-IN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]="Dropped"),[Total Employees])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REPORT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&amp; Visual Specifications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720537"/>
              </p:ext>
            </p:extLst>
          </p:nvPr>
        </p:nvGraphicFramePr>
        <p:xfrm>
          <a:off x="548640" y="1280160"/>
          <a:ext cx="11064240" cy="518464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Cards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Rate %, Total Employees, Avg Satisfaction, Total Cost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At-a-glance headline metrics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Trend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Month (X) vs Count of EmployeeID (Y)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enrollment volume over time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by Dept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Funnel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(Y) vs Completion Rate % (X)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departments' completion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by Program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Funnel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TrainingProgram (X) vs Avg Score Improvement (Y)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programs by learning gain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vs Improvement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TrainingCost_INR (X), Score Improvement (Y), Program (legend)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cost-effective programs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Breakdown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CompletionStatus, Count of EmployeeID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Completed/In Progress/Dropped mix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 Matrix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Matrix/Table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Department, Region, Program, all key measures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Drill-down for analysts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Slicers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Region, Department, Training Program, Completion </a:t>
                      </a:r>
                      <a:r>
                        <a:rPr lang="en-US" sz="970" dirty="0" err="1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Status,EnrollmentDate</a:t>
                      </a: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(range)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users filter the whole page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D31EB2-7068-9B80-1E94-5876C0399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44855" cy="699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714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EEAB5F-7155-7ED5-AB1B-CB4FBB45D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1" y="73572"/>
            <a:ext cx="12129839" cy="674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2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3BFA7C-B3D5-95B2-4033-3D886E0B4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242" y="-1"/>
            <a:ext cx="12274242" cy="681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01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Findings &amp; Insights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5,000-row generated dataset (illustrates the kind of storytelling this dashboard supports).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77.1%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completion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+21.67 pts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74720" y="2212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improvement (completed)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6364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 / 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63640" y="2212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 (completed)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15400" y="1600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05256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1.54M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52560" y="2212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spend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7665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Essentials and Cloud Computing Basics produced the highest average score gains (~22 pts), while Communication Skills trailed slightly (~21.2 pts) — gains are fairly even across programs.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49300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and Finance have the highest completion rates (~79%), while HR is lowest (~74%) — a possible signal to review HR scheduling or workload conflicts.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500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35660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dropped out rated satisfaction far lower on average (2.65/5) than those who completed (4.07/5), reinforcing that early engagement drives both completion and sentiment.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5349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51206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Excellence, Leadership Essentials, and Python for Data Analysis are the top 3 programs by enrollment (500+ each), indicating strong demand to plan capacity around.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000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Demonstrates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47672"/>
            <a:ext cx="164592" cy="164592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1051560" y="180136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workflow: raw data → Power Query cleanup → data model → DAX → visual storytelling.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724912"/>
            <a:ext cx="164592" cy="164592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051560" y="257860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use of calculated columns vs. measures, and when to use each.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502152"/>
            <a:ext cx="164592" cy="164592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051560" y="335584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framing: every chart ties back to a real L&amp;D decision (completion, cost, satisfaction).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279392"/>
            <a:ext cx="164592" cy="164592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051560" y="413308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training completion is strong (77%) and effective (+21.7 avg pts), but HR completion and early drop-off satisfaction are clear areas to act 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10881360" cy="0"/>
          </a:xfrm>
          <a:prstGeom prst="line">
            <a:avLst/>
          </a:prstGeom>
          <a:noFill/>
          <a:ln w="12700">
            <a:solidFill>
              <a:srgbClr val="2E6E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40080" y="5440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line: “Built an end-to-end Power BI dashboard analyzing training effectiveness across 5,000 employee records — designed calculated columns and DAX measures to track completion rate, score improvement, and training ROI.”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59</TotalTime>
  <Words>1340</Words>
  <Application>Microsoft Office PowerPoint</Application>
  <PresentationFormat>Widescreen</PresentationFormat>
  <Paragraphs>214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Modulo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Anjana PC</cp:lastModifiedBy>
  <cp:revision>11</cp:revision>
  <dcterms:created xsi:type="dcterms:W3CDTF">2026-09-15T04:44:44Z</dcterms:created>
  <dcterms:modified xsi:type="dcterms:W3CDTF">2026-10-05T10:15:02Z</dcterms:modified>
</cp:coreProperties>
</file>